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9" Type="http://schemas.openxmlformats.org/officeDocument/2006/relationships/viewProps" Target="viewProps.xml" /><Relationship Id="rId3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41" Type="http://schemas.openxmlformats.org/officeDocument/2006/relationships/tableStyles" Target="tableStyles.xml" /><Relationship Id="rId4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Kolorektale Chirurgie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Ein Überblick für Hausärzte</a:t>
            </a:r>
          </a:p>
          <a:p>
            <a:pPr lvl="0" indent="0" marL="0">
              <a:buNone/>
            </a:pPr>
            <a:r>
              <a:rPr b="1"/>
              <a:t>OA [Name] – Abteilung für Allgemein- und Viszeralchirurgie</a:t>
            </a:r>
            <a:br/>
            <a:r>
              <a:rPr b="1"/>
              <a:t>Landesklinikum Oberwart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/>
              <a:t>Chirurgie bei chronisch-entzündlichen Darmerkrankungen</a:t>
            </a:r>
          </a:p>
          <a:p>
            <a:pPr lvl="0" indent="-342900" marL="342900">
              <a:buAutoNum type="arabicPeriod"/>
            </a:pPr>
            <a:r>
              <a:rPr/>
              <a:t>Sigma-Divertikulitis – Wann operieren?</a:t>
            </a:r>
          </a:p>
          <a:p>
            <a:pPr lvl="0" indent="-342900" marL="342900">
              <a:buAutoNum type="arabicPeriod"/>
            </a:pPr>
            <a:r>
              <a:rPr/>
              <a:t>Kolorektales Karzinom – Chirurgische Therapie</a:t>
            </a:r>
          </a:p>
          <a:p>
            <a:pPr lvl="0" indent="-342900" marL="342900">
              <a:buAutoNum type="arabicPeriod"/>
            </a:pPr>
            <a:r>
              <a:rPr/>
              <a:t>Minimalinvasive vs. offene Chirurgie</a:t>
            </a:r>
          </a:p>
          <a:p>
            <a:pPr lvl="0" indent="-342900" marL="342900">
              <a:buAutoNum type="arabicPeriod"/>
            </a:pPr>
            <a:r>
              <a:rPr/>
              <a:t>Robotik – da Vinci® Multi-Port &amp; Single-Port</a:t>
            </a:r>
          </a:p>
          <a:p>
            <a:pPr lvl="0" indent="-342900" marL="342900">
              <a:buAutoNum type="arabicPeriod"/>
            </a:pPr>
            <a:r>
              <a:rPr/>
              <a:t>Unser Angebot in Oberwart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Chronisch-entzündliche Darmerkrankungen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Morbus Crohn &amp; Colitis ulcerosa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Morbus Crohn – Chirurgische Indikationen</a:t>
            </a:r>
          </a:p>
          <a:p>
            <a:pPr lvl="0" indent="0" marL="0">
              <a:buNone/>
            </a:pPr>
            <a:r>
              <a:rPr b="1"/>
              <a:t>Absolute Indikationen:</a:t>
            </a:r>
            <a:r>
              <a:rPr/>
              <a:t> - Perforation / freie Peritonitis - Abszess (nach CT-gesteuerter Drainage) - Ileus / Stenose mit Obstruktion - Therapierefraktäre Fisteln - Medikamentenrefraktärer Verlauf</a:t>
            </a:r>
          </a:p>
          <a:p>
            <a:pPr lvl="0" indent="0" marL="0">
              <a:buNone/>
            </a:pPr>
            <a:r>
              <a:rPr b="1"/>
              <a:t>Relative Indikationen:</a:t>
            </a:r>
            <a:r>
              <a:rPr/>
              <a:t> - Rezidivierende Stenosen - Wachstumsstörung (Kinder/Jugendliche) - Lebensqualität trotz maximaler Therapie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Colitis ulcerosa – Chirurgische Optionen</a:t>
            </a:r>
          </a:p>
          <a:p>
            <a:pPr lvl="0" indent="0" marL="0">
              <a:buNone/>
            </a:pPr>
            <a:r>
              <a:rPr b="1"/>
              <a:t>Notfall:</a:t>
            </a:r>
            <a:r>
              <a:rPr/>
              <a:t> - Toxisches Megacolon - Perforation - Refraktäre schwere Colitis</a:t>
            </a:r>
          </a:p>
          <a:p>
            <a:pPr lvl="0" indent="0" marL="0">
              <a:buNone/>
            </a:pPr>
            <a:r>
              <a:rPr b="1"/>
              <a:t>Elektiv:</a:t>
            </a:r>
            <a:r>
              <a:rPr/>
              <a:t> - Therapierefraktärer Verlauf - Dysplasie / Karzinom - Lebensqualität</a:t>
            </a:r>
          </a:p>
          <a:p>
            <a:pPr lvl="0" indent="0" marL="0">
              <a:buNone/>
            </a:pPr>
            <a:r>
              <a:rPr b="1"/>
              <a:t>Verfahren:</a:t>
            </a:r>
            <a:r>
              <a:rPr/>
              <a:t> - Proktokolektomie mit Pouch-analer Anastomose (IPAA) - Kolektomie mit Ileostoma (Stufenchirurgie)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Wann überweisen?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Alarmzeichen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Handlung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Gewichtsverlust &gt;10%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Gastro-überweisung dringend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Nachtblutungen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Endoskopie indiziert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Persistierende Diarrhoe &gt;4 Wochen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Colo-Screening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CRP &gt;50 + Fieber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Klinische Evaluation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Sigma-Divertikulitis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Das chirurgische Management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Divertikulitis – Klassifikation</a:t>
            </a:r>
          </a:p>
          <a:p>
            <a:pPr lvl="0" indent="0" marL="0">
              <a:buNone/>
            </a:pPr>
            <a:r>
              <a:rPr b="1"/>
              <a:t>Nach modified Hinchey / CDD: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Befund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Therapie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Peridivertikulitis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Konservativ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IIa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Abszess &lt;4cm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Antibiose ± Drainage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IIb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Abszess &gt;4cm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CT-Drainage, ggf. 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III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Purulente Peritonitis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Notfall-OP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Fäkale Peritonitis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Notfall-OP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Wann elektiv operieren?</a:t>
            </a:r>
          </a:p>
          <a:p>
            <a:pPr lvl="0" indent="0" marL="0">
              <a:buNone/>
            </a:pPr>
            <a:r>
              <a:rPr b="1"/>
              <a:t>Guideline-Empfehlungen (S3-Leitlinie, ACG 2021):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Empfohlen:</a:t>
            </a:r>
            <a:r>
              <a:rPr/>
              <a:t> - Komplizierte Divertikulitis (Abszess, Perforation) nach Abheilung - Fistelbildung ( Kolovesikal, Kolovaginal) - Stenose mit Obstruktion</a:t>
            </a:r>
          </a:p>
          <a:p>
            <a:pPr lvl="0" indent="0" marL="0">
              <a:buNone/>
            </a:pPr>
            <a:r>
              <a:rPr/>
              <a:t>⚠️ </a:t>
            </a:r>
            <a:r>
              <a:rPr b="1"/>
              <a:t>Diskutiert:</a:t>
            </a:r>
            <a:r>
              <a:rPr/>
              <a:t> - Rezidivierende unkomplizierte Divertikulitis - Anzahl der Episoden nicht allein entscheidend - Individualisierte Entscheidung nach Lebensalter, Komorbidität, Patientenwunsch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Nicht mehr empfohlen:</a:t>
            </a:r>
            <a:r>
              <a:rPr/>
              <a:t> - “Klassische Rule of 3” (3 Episoden = OP)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Operation bei Divertikulitis</a:t>
            </a:r>
          </a:p>
          <a:p>
            <a:pPr lvl="0" indent="0" marL="0">
              <a:buNone/>
            </a:pPr>
            <a:r>
              <a:rPr b="1"/>
              <a:t>Verfahren:</a:t>
            </a:r>
            <a:r>
              <a:rPr/>
              <a:t> - Sigmaresektion mit primärer Anastomose (laparoskopisch bevorzugt) - Hartmann-Op (bei Peritonitis, hohem Risiko)</a:t>
            </a:r>
          </a:p>
          <a:p>
            <a:pPr lvl="0" indent="0" marL="0">
              <a:buNone/>
            </a:pPr>
            <a:r>
              <a:rPr b="1"/>
              <a:t>Timing:</a:t>
            </a:r>
            <a:r>
              <a:rPr/>
              <a:t> - Elektiv: 6-8 Wochen nach Abklingen der Akutphase - Notfall: Sofort bei Hinchey III/IV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Kolorektales Karzinom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Chirurgische Therapie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Epidemiologie – Österreich</a:t>
            </a:r>
          </a:p>
          <a:p>
            <a:pPr lvl="0" indent="0" marL="0">
              <a:buNone/>
            </a:pPr>
            <a:r>
              <a:rPr b="1"/>
              <a:t>Inzidenz:</a:t>
            </a:r>
            <a:r>
              <a:rPr/>
              <a:t> ~5.500 Neuerkrankungen/Jahr</a:t>
            </a:r>
            <a:br/>
            <a:r>
              <a:rPr b="1"/>
              <a:t>Mortalität:</a:t>
            </a:r>
            <a:r>
              <a:rPr/>
              <a:t> ~2.400 Todesfälle/Jahr</a:t>
            </a:r>
            <a:br/>
            <a:r>
              <a:rPr b="1"/>
              <a:t>Häufigkeit:</a:t>
            </a:r>
            <a:r>
              <a:rPr/>
              <a:t> 2.-3. häufigste Krebsart</a:t>
            </a:r>
          </a:p>
          <a:p>
            <a:pPr lvl="0" indent="0" marL="0">
              <a:buNone/>
            </a:pPr>
            <a:r>
              <a:rPr i="1"/>
              <a:t>(Bitte mit aktuellen Statistiken von Statistik Austria ergänzen)</a:t>
            </a:r>
          </a:p>
          <a:p>
            <a:pPr lvl="0" indent="0" marL="0">
              <a:buNone/>
            </a:pPr>
            <a:r>
              <a:rPr b="1"/>
              <a:t>Risikofaktoren:</a:t>
            </a:r>
            <a:r>
              <a:rPr/>
              <a:t> - Alter &gt;50 Jahre - Familiäre Belastung (FAP, HNPCC) - Colitis ulcerosa, M. Crohn - Adipositas, Rauchen, Alkohol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Screening-Überweisung – Wann?</a:t>
            </a:r>
          </a:p>
          <a:p>
            <a:pPr lvl="0" indent="0" marL="0">
              <a:buNone/>
            </a:pPr>
            <a:r>
              <a:rPr b="1"/>
              <a:t>Österreichisches Screening-Programm:</a:t>
            </a:r>
            <a:r>
              <a:rPr/>
              <a:t> - Ab 45-50 Jahren - iFOBT jährlich, oder - Coloskopie alle 10 Jahre</a:t>
            </a:r>
          </a:p>
          <a:p>
            <a:pPr lvl="0" indent="0" marL="0">
              <a:buNone/>
            </a:pPr>
            <a:r>
              <a:rPr b="1"/>
              <a:t>Sofort-Überweisung:</a:t>
            </a:r>
            <a:r>
              <a:rPr/>
              <a:t> - Hämoccult-positiv - Hämatochezie - Stuhlformveränderung &gt;4 Wochen - Unklare Anämie - Gewichtsverlust + abdominelle Symptome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Chirurgische Prinzipien</a:t>
            </a:r>
          </a:p>
          <a:p>
            <a:pPr lvl="0" indent="0" marL="0">
              <a:buNone/>
            </a:pPr>
            <a:r>
              <a:rPr b="1"/>
              <a:t>Onkologische Resektion:</a:t>
            </a:r>
            <a:r>
              <a:rPr/>
              <a:t> - Lymphadenektomie entlang der versorgenden Arterie - CME (Complete Mesocolic Excision) – Kolon - TME (Total Mesorectal Excision) – Rektum</a:t>
            </a:r>
          </a:p>
          <a:p>
            <a:pPr lvl="0" indent="0" marL="0">
              <a:buNone/>
            </a:pPr>
            <a:r>
              <a:rPr b="1"/>
              <a:t>Rekonstruktion:</a:t>
            </a:r>
            <a:r>
              <a:rPr/>
              <a:t> - Primäre Anastomose (Ileocoecal, Kolon-Kolon) - Protectives Ileostoma (tiefe Rektumanastomose) - Endstoma (APR, palliativ)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Rektumkarzinom – Besonderheiten</a:t>
            </a:r>
          </a:p>
          <a:p>
            <a:pPr lvl="0" indent="0" marL="0">
              <a:buNone/>
            </a:pPr>
            <a:r>
              <a:rPr b="1"/>
              <a:t>TME-Chirurgie:</a:t>
            </a:r>
            <a:r>
              <a:rPr/>
              <a:t> - Standard für Tumoren im mittleren/dritten Rektumdrittel - Ziel: Lokalrezidivrate &lt;5%</a:t>
            </a:r>
          </a:p>
          <a:p>
            <a:pPr lvl="0" indent="0" marL="0">
              <a:buNone/>
            </a:pPr>
            <a:r>
              <a:rPr b="1"/>
              <a:t>Möglichkeiten:</a:t>
            </a:r>
            <a:r>
              <a:rPr/>
              <a:t> - Tiefe anteriore Rektumresektion (TAR) - Abdominoperineale Rektumexstirpation (APR) – bei Tumor nahe am Sphinkter</a:t>
            </a:r>
          </a:p>
          <a:p>
            <a:pPr lvl="0" indent="0" marL="0">
              <a:buNone/>
            </a:pPr>
            <a:r>
              <a:rPr b="1"/>
              <a:t>Neoadjuvante Therapie:</a:t>
            </a:r>
            <a:r>
              <a:rPr/>
              <a:t> - CRT für T3/T4 oder N+ (lokoregionär)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4. Minimalinvasive vs. offene Chirurgie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Vorteile der Laparoskopie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/>
                <a:gridCol w="1701800"/>
                <a:gridCol w="1701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Laparoskopisch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Offen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Wundinfekt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↓ 50%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Hernien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↓ 70%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Krankenhaustage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5-7 Tage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8-12 Tage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Schmerzen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Geringer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Höher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Kosmetisches Ergebnis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✓✓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–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Onkologische Äquivalenz:</a:t>
            </a:r>
            <a:br/>
            <a:r>
              <a:rPr/>
              <a:t>Mehrere RCTs (COLOR, CLASICC) zeigen gleiche Langzeitüberlebensraten.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Kontraindikationen für MIS</a:t>
            </a:r>
          </a:p>
          <a:p>
            <a:pPr lvl="0" indent="0" marL="0">
              <a:buNone/>
            </a:pPr>
            <a:r>
              <a:rPr b="1"/>
              <a:t>Relativ:</a:t>
            </a:r>
            <a:r>
              <a:rPr/>
              <a:t> - Vor-OP mit Adhäsionen - Tumorgröße &gt;8cm - fortgeschrittenes Stadium in Notfall</a:t>
            </a:r>
          </a:p>
          <a:p>
            <a:pPr lvl="0" indent="0" marL="0">
              <a:buNone/>
            </a:pPr>
            <a:r>
              <a:rPr b="1"/>
              <a:t>Absolut:</a:t>
            </a:r>
            <a:r>
              <a:rPr/>
              <a:t> - Hämodynamische Instabilität - Kachexie mit Kontraindikation für Pneumoperitoneum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Robotik in der kolorektalen Chirurgie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da Vinci®-Systeme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Warum Robotik?</a:t>
            </a:r>
          </a:p>
          <a:p>
            <a:pPr lvl="0" indent="0" marL="0">
              <a:buNone/>
            </a:pPr>
            <a:r>
              <a:rPr b="1"/>
              <a:t>Vorteile gegenüber konventioneller Laparoskopie:</a:t>
            </a:r>
            <a:r>
              <a:rPr/>
              <a:t> - 3D-HD-Vision - Tremor-Filtration - Articulierte Instrumente (7 DOF) - Ergonomie für den Operateur</a:t>
            </a:r>
          </a:p>
          <a:p>
            <a:pPr lvl="0" indent="0" marL="0">
              <a:buNone/>
            </a:pPr>
            <a:r>
              <a:rPr b="1"/>
              <a:t>Klinische Vorteile:</a:t>
            </a:r>
            <a:r>
              <a:rPr/>
              <a:t> - Präzision im kleinen Becken (Rektumchirurgie!) - Höhere Rate an Sphinktererhalt - Lernkurve kürzer als Laparoskopie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Unser Robotic-Programm</a:t>
            </a:r>
          </a:p>
          <a:p>
            <a:pPr lvl="0" indent="0" marL="0">
              <a:buNone/>
            </a:pPr>
            <a:r>
              <a:rPr b="1"/>
              <a:t>Landesklinikum Oberwart: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Multi-Port da Vinci® Xi</a:t>
            </a:r>
            <a:br/>
            <a:r>
              <a:rPr/>
              <a:t>- Standard bei komplexen kolorektalen Eingriffen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Single-Port da Vinci SP®</a:t>
            </a:r>
            <a:br/>
            <a:r>
              <a:rPr/>
              <a:t>- </a:t>
            </a:r>
            <a:r>
              <a:rPr b="1"/>
              <a:t>Einziges System in ganz Österreich!</a:t>
            </a:r>
            <a:r>
              <a:rPr/>
              <a:t> - Eingeport-Chirurgie durch Nabel - Optimale Kosmetik, minimaler Zugang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Single-Port – Vorteile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Konventionell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Single-Port SP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4-5 Inzisionen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Inzision (Nabel)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Mehrere Trokare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 Port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Wunden sichtbar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Narbe versteckt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↓ Wundinfekt-Rate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Indikationen:</a:t>
            </a:r>
            <a:r>
              <a:rPr/>
              <a:t> - Rektumresektionen - Sigmaresektionen - Hemikolektomien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Unser Angebot in Oberwart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Abteilung für Allgemein- &amp; Viszeralchirurgie</a:t>
            </a:r>
          </a:p>
          <a:p>
            <a:pPr lvl="0" indent="0" marL="0">
              <a:buNone/>
            </a:pPr>
            <a:r>
              <a:rPr b="1"/>
              <a:t>Landesklinikum Oberwart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Diagnostik – Alles in einer Hand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Endoskopie:</a:t>
            </a:r>
            <a:r>
              <a:rPr/>
              <a:t> - Gastrokopie - Coloskopie (inkl. Polypektomie, EMR) - Kapselendoskopie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Bildgebung:</a:t>
            </a:r>
            <a:r>
              <a:rPr/>
              <a:t> - CT (Abdomen/Thorax) - CT-gesteuerte Biopsie - MRT (Becken, Rektum) - Endosonographie</a:t>
            </a:r>
          </a:p>
          <a:p>
            <a:pPr lvl="0" indent="0" marL="0">
              <a:buNone/>
            </a:pPr>
            <a:r>
              <a:rPr/>
              <a:t>✅ </a:t>
            </a:r>
            <a:r>
              <a:rPr b="1"/>
              <a:t>Labor &amp; Tumormarker:</a:t>
            </a:r>
            <a:r>
              <a:rPr/>
              <a:t> - CEA, CA 19-9 - Entzündungswerte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Unser kolorektales Team</a:t>
            </a:r>
          </a:p>
          <a:p>
            <a:pPr lvl="0" indent="0" marL="0">
              <a:buNone/>
            </a:pPr>
            <a:r>
              <a:rPr b="1"/>
              <a:t>Spezialisierte Koloproktologie:</a:t>
            </a:r>
            <a:r>
              <a:rPr/>
              <a:t> - Elektive und Notfall-Chirurgie - Laparoskopisch &amp; robotisch - Multimodale Tumorboards (Tumorboard Burgenland)</a:t>
            </a:r>
          </a:p>
          <a:p>
            <a:pPr lvl="0" indent="0" marL="0">
              <a:buNone/>
            </a:pPr>
            <a:r>
              <a:rPr b="1"/>
              <a:t>Robotic-Chirurgie:</a:t>
            </a:r>
            <a:r>
              <a:rPr/>
              <a:t> - Zertifizierte da Vinci®-Operateure - Multi-Port &amp; Single-Port - Referenzzentrum für robotic kolorektale Chirurgie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Überweisung – So geht’s</a:t>
            </a:r>
          </a:p>
          <a:p>
            <a:pPr lvl="0" indent="0" marL="0">
              <a:buNone/>
            </a:pPr>
            <a:r>
              <a:rPr b="1"/>
              <a:t>Elektiv:</a:t>
            </a:r>
            <a:r>
              <a:rPr/>
              <a:t> - Überweisungsschein with Befunden (Colo, CT, MRT) - Ambulanz: Tel. [Nummer] - Tumorboard-Präsentation möglich</a:t>
            </a:r>
          </a:p>
          <a:p>
            <a:pPr lvl="0" indent="0" marL="0">
              <a:buNone/>
            </a:pPr>
            <a:r>
              <a:rPr b="1"/>
              <a:t>Notfall:</a:t>
            </a:r>
            <a:r>
              <a:rPr/>
              <a:t> - 24/7 Aufnahme chirurgische Notaufnahme - Direkte Kontaktierung: [Nummer]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Zusammenfassung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Diagnose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Wann zur Chirurgie?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M. Crohn / CU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Komplikationen, Refraktär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Divertikulitis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Nach kompliziertem Schub, Fistel, Stenose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Kolonkarzinom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Nach Staging, Tumorboard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Rektumkarzinom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Nach neoadjuvanter CRT (falls indiziert)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Kontinuierliche Betreuung:</a:t>
            </a:r>
            <a:r>
              <a:rPr/>
              <a:t> - Diagnostik → OP → Nachsorge in einer Hand - Enge Kooperation mit niedergelassenen Kollegen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Vielen Dank!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Fragen?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OA [Name]</a:t>
            </a:r>
            <a:br/>
            <a:r>
              <a:rPr/>
              <a:t>Abteilung für Allgemein- und Viszeralchirurgie</a:t>
            </a:r>
            <a:br/>
            <a:r>
              <a:rPr/>
              <a:t>Landesklinikum Oberwart</a:t>
            </a:r>
          </a:p>
          <a:p>
            <a:pPr lvl="0" indent="0" marL="0">
              <a:buNone/>
            </a:pPr>
            <a:r>
              <a:rPr/>
              <a:t>[Telefon] | [E-Mail]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Platz für eigene Videos</a:t>
            </a:r>
          </a:p>
          <a:p>
            <a:pPr lvl="0" indent="0" marL="0">
              <a:buNone/>
            </a:pPr>
            <a:r>
              <a:rPr i="1"/>
              <a:t>[Hier können Sie Ihre eigenen OP-Videos einfügen]</a:t>
            </a:r>
          </a:p>
          <a:p>
            <a:pPr lvl="0"/>
            <a:r>
              <a:rPr/>
              <a:t>Laparoskopische Sigmaresektion</a:t>
            </a:r>
          </a:p>
          <a:p>
            <a:pPr lvl="0"/>
            <a:r>
              <a:rPr/>
              <a:t>Robotische Rektumresektion (Multi-Port)</a:t>
            </a:r>
          </a:p>
          <a:p>
            <a:pPr lvl="0"/>
            <a:r>
              <a:rPr/>
              <a:t>Single-Port Kolonresektion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 / Leitlinien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S3-Leitlinie Kolorektales Karzinom (AWMF)</a:t>
            </a:r>
          </a:p>
          <a:p>
            <a:pPr lvl="0"/>
            <a:r>
              <a:rPr/>
              <a:t>S3-Leitlinie Divertikulitis</a:t>
            </a:r>
          </a:p>
          <a:p>
            <a:pPr lvl="0"/>
            <a:r>
              <a:rPr/>
              <a:t>ECCO Guidelines for IBD (2023)</a:t>
            </a:r>
          </a:p>
          <a:p>
            <a:pPr lvl="0"/>
            <a:r>
              <a:rPr/>
              <a:t>ASCRS Guidelines for Diverticulitis (2021)</a:t>
            </a:r>
          </a:p>
          <a:p>
            <a:pPr lvl="0"/>
            <a:r>
              <a:rPr/>
              <a:t>European Society of Coloproctology (ESCP)</a:t>
            </a:r>
          </a:p>
          <a:p>
            <a:pPr lvl="0"/>
            <a:r>
              <a:rPr/>
              <a:t>Statistik Austria – Krebsstatistik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Präsentation erstellt: Februar 2026</a:t>
            </a:r>
            <a:br/>
            <a:r>
              <a:rPr i="1"/>
              <a:t>Fachliche Beratung: OA [Name]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2026-02-18T05:39:41Z</dcterms:created>
  <dcterms:modified xsi:type="dcterms:W3CDTF">2026-02-18T05:39:41Z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